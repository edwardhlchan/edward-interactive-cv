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Montserrat" charset="1" panose="00000500000000000000"/>
      <p:regular r:id="rId7"/>
    </p:embeddedFont>
    <p:embeddedFont>
      <p:font typeface="Montserrat Bold" charset="1" panose="00000800000000000000"/>
      <p:regular r:id="rId8"/>
    </p:embeddedFont>
    <p:embeddedFont>
      <p:font typeface="Montserrat Semi-Bold" charset="1" panose="000007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83654" y="1992433"/>
            <a:ext cx="6592692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83654" y="2361917"/>
            <a:ext cx="6592692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83654" y="3428678"/>
            <a:ext cx="6592692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83654" y="1568688"/>
            <a:ext cx="6592692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483654" y="5300744"/>
            <a:ext cx="6592692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56119" y="8387742"/>
            <a:ext cx="6620227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494968" y="1715891"/>
            <a:ext cx="118466" cy="162560"/>
          </a:xfrm>
          <a:custGeom>
            <a:avLst/>
            <a:gdLst/>
            <a:ahLst/>
            <a:cxnLst/>
            <a:rect r="r" b="b" t="t" l="l"/>
            <a:pathLst>
              <a:path h="162560" w="118466">
                <a:moveTo>
                  <a:pt x="0" y="0"/>
                </a:moveTo>
                <a:lnTo>
                  <a:pt x="118466" y="0"/>
                </a:lnTo>
                <a:lnTo>
                  <a:pt x="118466" y="162560"/>
                </a:lnTo>
                <a:lnTo>
                  <a:pt x="0" y="162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7378" y="1710563"/>
            <a:ext cx="173216" cy="173216"/>
          </a:xfrm>
          <a:custGeom>
            <a:avLst/>
            <a:gdLst/>
            <a:ahLst/>
            <a:cxnLst/>
            <a:rect r="r" b="b" t="t" l="l"/>
            <a:pathLst>
              <a:path h="173216" w="173216">
                <a:moveTo>
                  <a:pt x="0" y="0"/>
                </a:moveTo>
                <a:lnTo>
                  <a:pt x="173216" y="0"/>
                </a:lnTo>
                <a:lnTo>
                  <a:pt x="173216" y="173216"/>
                </a:lnTo>
                <a:lnTo>
                  <a:pt x="0" y="173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464569" y="9474627"/>
            <a:ext cx="6611777" cy="0"/>
          </a:xfrm>
          <a:prstGeom prst="line">
            <a:avLst/>
          </a:prstGeom>
          <a:ln cap="flat" w="9525">
            <a:solidFill>
              <a:srgbClr val="171E1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3858280" y="1732364"/>
            <a:ext cx="153283" cy="153283"/>
          </a:xfrm>
          <a:custGeom>
            <a:avLst/>
            <a:gdLst/>
            <a:ahLst/>
            <a:cxnLst/>
            <a:rect r="r" b="b" t="t" l="l"/>
            <a:pathLst>
              <a:path h="153283" w="153283">
                <a:moveTo>
                  <a:pt x="0" y="0"/>
                </a:moveTo>
                <a:lnTo>
                  <a:pt x="153283" y="0"/>
                </a:lnTo>
                <a:lnTo>
                  <a:pt x="153283" y="153283"/>
                </a:lnTo>
                <a:lnTo>
                  <a:pt x="0" y="15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83654" y="2388303"/>
            <a:ext cx="5494442" cy="61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5"/>
              </a:lnSpc>
              <a:spcBef>
                <a:spcPct val="0"/>
              </a:spcBef>
            </a:pPr>
            <a:r>
              <a:rPr lang="en-US" sz="718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Computer Science and IT student with hands-on experience in SIEM-based event-log analysis, incident-response workflows, network fundamentals, Python automation, and application development. Analyzed raw event logs and reconstructed multi-stage attack scenarios in Splunk Boss of the SOC (BOTS), finishing in the Top 10 in 2025. Also developed Python and C# tools, PyQt desktop applications, and serverless functions, bringing a practical programming and automation mindset to IT operations and security problem-solving.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3654" y="2082921"/>
            <a:ext cx="3534345" cy="20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SUMMARY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3654" y="3149682"/>
            <a:ext cx="1361277" cy="20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5286" y="3880478"/>
            <a:ext cx="2073074" cy="13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"/>
              </a:lnSpc>
            </a:pPr>
            <a:r>
              <a:rPr lang="en-US" sz="833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Tech Basics (CLAP-TECH Pathway)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8243" y="4553532"/>
            <a:ext cx="2073074" cy="13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"/>
              </a:lnSpc>
            </a:pPr>
            <a:r>
              <a:rPr lang="en-US" sz="833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Secondary Education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8243" y="4040298"/>
            <a:ext cx="5233235" cy="453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3"/>
              </a:lnSpc>
            </a:pPr>
            <a:r>
              <a:rPr lang="en-US" sz="66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Attained with Distinction II.</a:t>
            </a:r>
          </a:p>
          <a:p>
            <a:pPr algn="l">
              <a:lnSpc>
                <a:spcPts val="933"/>
              </a:lnSpc>
            </a:pPr>
            <a:r>
              <a:rPr lang="en-US" sz="66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Completed IBM P-TECH-aligned coursework in Python data programming, networking fundamentals, and data analysis using Pandas and Excel.</a:t>
            </a:r>
          </a:p>
          <a:p>
            <a:pPr algn="l">
              <a:lnSpc>
                <a:spcPts val="933"/>
              </a:lnSpc>
            </a:pPr>
            <a:r>
              <a:rPr lang="en-US" sz="66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Selected for industry immersion at Equinix Data Center and participation in the Splunk BOTS competition.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8243" y="4713128"/>
            <a:ext cx="4037521" cy="22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3"/>
              </a:lnSpc>
            </a:pPr>
            <a:r>
              <a:rPr lang="en-US" sz="66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Key Results: Level 5 in English Language, Level 5 in Information &amp; Communication Technology (ICT), Level 3 in Mathematics.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5081" y="4031586"/>
            <a:ext cx="837641" cy="11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2024 - 2025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5081" y="4544007"/>
            <a:ext cx="837641" cy="11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2020 - 2026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081" y="4166991"/>
            <a:ext cx="1330332" cy="23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Hong Kong Baptist University - School of Continuing Education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5081" y="4679412"/>
            <a:ext cx="931726" cy="23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Lai King Catholic Secondary School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3654" y="5021748"/>
            <a:ext cx="1361277" cy="209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3654" y="5339645"/>
            <a:ext cx="5466627" cy="19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7"/>
              </a:lnSpc>
            </a:pPr>
            <a:r>
              <a:rPr lang="en-US" sz="1134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Security Log Analysis &amp; Incident Response Simulation | Splunk BOTS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6119" y="8037737"/>
            <a:ext cx="1633375" cy="2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6119" y="8524920"/>
            <a:ext cx="6564944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899" indent="-107950" lvl="1">
              <a:lnSpc>
                <a:spcPts val="1529"/>
              </a:lnSpc>
              <a:buFont typeface="Arial"/>
              <a:buChar char="•"/>
            </a:pPr>
            <a:r>
              <a:rPr lang="en-US" sz="999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Cybersecurity &amp; IT Operations: Splunk SIEM, event-log analysis, incident-response workflows, network fundamentals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6119" y="8906855"/>
            <a:ext cx="3245313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899" indent="-107950" lvl="1">
              <a:lnSpc>
                <a:spcPts val="1529"/>
              </a:lnSpc>
              <a:buFont typeface="Arial"/>
              <a:buChar char="•"/>
            </a:pPr>
            <a:r>
              <a:rPr lang="en-US" sz="999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Programming: Python, C#, JavaScript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37548" y="8754455"/>
            <a:ext cx="356392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899" indent="-107950" lvl="1">
              <a:lnSpc>
                <a:spcPts val="1529"/>
              </a:lnSpc>
              <a:buFont typeface="Arial"/>
              <a:buChar char="•"/>
            </a:pPr>
            <a:r>
              <a:rPr lang="en-US" sz="999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Data &amp; Automation: PyQt, Pandas, Excel, data parsing, data formatting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2424" y="1713314"/>
            <a:ext cx="934169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+852 55117745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76794" y="1713314"/>
            <a:ext cx="1748136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edwardcc082009@gmail.com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5489" y="665059"/>
            <a:ext cx="4210700" cy="43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5"/>
              </a:lnSpc>
            </a:pPr>
            <a:r>
              <a:rPr lang="en-US" b="true" sz="3004" spc="111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EDWARD CHAN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83654" y="1140169"/>
            <a:ext cx="5307787" cy="20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71"/>
              </a:lnSpc>
              <a:spcBef>
                <a:spcPct val="0"/>
              </a:spcBef>
            </a:pPr>
            <a:r>
              <a:rPr lang="en-US" sz="1428" spc="67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IT Operations, Cybersecurity &amp; Automation Assistant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4569" y="9124622"/>
            <a:ext cx="163337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171E1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ACHIEVEMENTS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1736" y="9631789"/>
            <a:ext cx="4321114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Top 10 Finisher — Splunk Boss of the SOC (BOTS) (2025)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81736" y="9949289"/>
            <a:ext cx="4321114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99"/>
              </a:lnSpc>
            </a:pPr>
            <a:r>
              <a:rPr lang="en-US" sz="999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Distinction - Canadian Computing Competition (2025)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59188" y="1725185"/>
            <a:ext cx="2029103" cy="148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github.com/lmaodick1239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5081" y="3519166"/>
            <a:ext cx="837641" cy="11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2026 - 2028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5081" y="3654570"/>
            <a:ext cx="1320469" cy="234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6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Hong Kong Baptist University - School of Continuing Education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008243" y="3528691"/>
            <a:ext cx="3295288" cy="13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66"/>
              </a:lnSpc>
            </a:pPr>
            <a:r>
              <a:rPr lang="en-US" sz="833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Higher Diploma in Data Science  (CLAP-TECH Pathway)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15286" y="3651163"/>
            <a:ext cx="4037521" cy="11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33"/>
              </a:lnSpc>
            </a:pPr>
            <a:r>
              <a:rPr lang="en-US" sz="66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Expected Start Date: 2026/09/01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83654" y="5557135"/>
            <a:ext cx="6153529" cy="45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4109" indent="-87055" lvl="1">
              <a:lnSpc>
                <a:spcPts val="1233"/>
              </a:lnSpc>
              <a:buFont typeface="Arial"/>
              <a:buChar char="•"/>
            </a:pPr>
            <a:r>
              <a:rPr lang="en-US" sz="80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Analyzed raw event logs in a competitive SIEM environment to investigate simulated enterprise security incidents.</a:t>
            </a:r>
          </a:p>
          <a:p>
            <a:pPr algn="l" marL="174109" indent="-87055" lvl="1">
              <a:lnSpc>
                <a:spcPts val="1233"/>
              </a:lnSpc>
              <a:buFont typeface="Arial"/>
              <a:buChar char="•"/>
            </a:pPr>
            <a:r>
              <a:rPr lang="en-US" sz="80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Executed incident-response workflows and reconstructed multi-stage attack scenarios.</a:t>
            </a:r>
          </a:p>
          <a:p>
            <a:pPr algn="l" marL="174109" indent="-87055" lvl="1">
              <a:lnSpc>
                <a:spcPts val="1233"/>
              </a:lnSpc>
              <a:buFont typeface="Arial"/>
              <a:buChar char="•"/>
            </a:pPr>
            <a:r>
              <a:rPr lang="en-US" sz="806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Achieved a Top 10 finish in Splunk Boss of the SOC (BOTS), 2025.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99760" y="6074950"/>
            <a:ext cx="5466627" cy="19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7"/>
              </a:lnSpc>
            </a:pPr>
            <a:r>
              <a:rPr lang="en-US" sz="1134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Automated Data Parsing Desktop Application | Python, PyQt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3654" y="6344289"/>
            <a:ext cx="6057526" cy="30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5530" indent="-87765" lvl="1">
              <a:lnSpc>
                <a:spcPts val="1243"/>
              </a:lnSpc>
              <a:buFont typeface="Arial"/>
              <a:buChar char="•"/>
            </a:pPr>
            <a:r>
              <a:rPr lang="en-US" sz="813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Built a PyQt desktop application to automate data parsing, extraction, filtering, and formatting.</a:t>
            </a:r>
          </a:p>
          <a:p>
            <a:pPr algn="l" marL="175530" indent="-87765" lvl="1">
              <a:lnSpc>
                <a:spcPts val="1243"/>
              </a:lnSpc>
              <a:buFont typeface="Arial"/>
              <a:buChar char="•"/>
            </a:pPr>
            <a:r>
              <a:rPr lang="en-US" sz="813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Applied Python data-programming techniques to reduce repetitive manual processing steps.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3654" y="6697748"/>
            <a:ext cx="5466627" cy="19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7"/>
              </a:lnSpc>
            </a:pPr>
            <a:r>
              <a:rPr lang="en-US" sz="1134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Real-Time Input-Translation Engine</a:t>
            </a:r>
            <a:r>
              <a:rPr lang="en-US" sz="1134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 | C#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99760" y="6967087"/>
            <a:ext cx="4849652" cy="302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4608" indent="-87304" lvl="1">
              <a:lnSpc>
                <a:spcPts val="1237"/>
              </a:lnSpc>
              <a:buFont typeface="Arial"/>
              <a:buChar char="•"/>
            </a:pPr>
            <a:r>
              <a:rPr lang="en-US" sz="808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Developed an engine to remap and emulate controller input signals in real time.</a:t>
            </a:r>
          </a:p>
          <a:p>
            <a:pPr algn="l" marL="174608" indent="-87304" lvl="1">
              <a:lnSpc>
                <a:spcPts val="1237"/>
              </a:lnSpc>
              <a:buFont typeface="Arial"/>
              <a:buChar char="•"/>
            </a:pPr>
            <a:r>
              <a:rPr lang="en-US" sz="808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Applied AI-assisted development workflows to support code optimization and logic design.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15865" y="7301384"/>
            <a:ext cx="5466627" cy="194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87"/>
              </a:lnSpc>
            </a:pPr>
            <a:r>
              <a:rPr lang="en-US" sz="1134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Serverless Web Functions</a:t>
            </a:r>
            <a:r>
              <a:rPr lang="en-US" sz="1134" b="true">
                <a:solidFill>
                  <a:srgbClr val="171E1C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| JavaScript, Cloudflare Workers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99760" y="7528400"/>
            <a:ext cx="5618947" cy="47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82974" indent="-91487" lvl="1">
              <a:lnSpc>
                <a:spcPts val="1296"/>
              </a:lnSpc>
              <a:buFont typeface="Arial"/>
              <a:buChar char="•"/>
            </a:pPr>
            <a:r>
              <a:rPr lang="en-US" sz="847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Implemented and deployed serverless web functions using Cloudflare Workers.</a:t>
            </a:r>
          </a:p>
          <a:p>
            <a:pPr algn="l" marL="182974" indent="-91487" lvl="1">
              <a:lnSpc>
                <a:spcPts val="1296"/>
              </a:lnSpc>
              <a:buFont typeface="Arial"/>
              <a:buChar char="•"/>
            </a:pPr>
            <a:r>
              <a:rPr lang="en-US" sz="847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Applied object-oriented programming principles while developing utility and automation features.</a:t>
            </a:r>
          </a:p>
          <a:p>
            <a:pPr algn="l" marL="182974" indent="-91487" lvl="1">
              <a:lnSpc>
                <a:spcPts val="1296"/>
              </a:lnSpc>
              <a:buFont typeface="Arial"/>
              <a:buChar char="•"/>
            </a:pPr>
            <a:r>
              <a:rPr lang="en-US" sz="847">
                <a:solidFill>
                  <a:srgbClr val="171E1C"/>
                </a:solidFill>
                <a:latin typeface="Montserrat"/>
                <a:ea typeface="Montserrat"/>
                <a:cs typeface="Montserrat"/>
                <a:sym typeface="Montserrat"/>
              </a:rPr>
              <a:t>Portfolio page: https://www.mzki.moe/projects/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DAHSSQtlp10</dc:identifier>
  <dcterms:modified xsi:type="dcterms:W3CDTF">2011-08-01T06:04:30Z</dcterms:modified>
  <cp:revision>1</cp:revision>
  <dc:title>Black and White Clean Professional A4 Resume</dc:title>
</cp:coreProperties>
</file>